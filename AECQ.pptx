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0" d="100"/>
          <a:sy n="70" d="100"/>
        </p:scale>
        <p:origin x="4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D023E-253E-E50C-8F39-0BD1D322BA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E2918B-940F-ECFF-6C8B-61B959E68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C0A5AD-34F2-03AB-7EC3-5484B0BA45C5}"/>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5" name="Footer Placeholder 4">
            <a:extLst>
              <a:ext uri="{FF2B5EF4-FFF2-40B4-BE49-F238E27FC236}">
                <a16:creationId xmlns:a16="http://schemas.microsoft.com/office/drawing/2014/main" id="{5D53DE87-FD1E-B3C5-16E8-E0561343A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84CF5-97AD-E543-0D3D-D972B903F83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087117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D8A5-9F85-3B11-8424-C384118C9C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27FCEA-E602-A93D-D28E-BDABB74F28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96057-DBF1-564A-040E-4D39A915F893}"/>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5" name="Footer Placeholder 4">
            <a:extLst>
              <a:ext uri="{FF2B5EF4-FFF2-40B4-BE49-F238E27FC236}">
                <a16:creationId xmlns:a16="http://schemas.microsoft.com/office/drawing/2014/main" id="{A2415188-7C3A-7ACC-7C96-55827CE74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4E878F-A1BC-EEA1-D7DD-CFEF5EE79AE3}"/>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720388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D01D4-C9D5-371B-0416-7D48FDEF1B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12B7E2-7667-011B-D785-E73B05DB3A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892910-F7A9-2444-7195-A7BCEC0E00AE}"/>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5" name="Footer Placeholder 4">
            <a:extLst>
              <a:ext uri="{FF2B5EF4-FFF2-40B4-BE49-F238E27FC236}">
                <a16:creationId xmlns:a16="http://schemas.microsoft.com/office/drawing/2014/main" id="{A8E5657E-0C4F-D61C-72D0-977C00918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B450F-2A01-ACBE-3E25-3E4E261D9B57}"/>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731101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912D-9D73-7F3D-58B9-5D7C19A081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E7180C-F544-4808-F45E-6F5430E4BD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A48DFA-A27E-7D0E-DEA8-1EDCDE600A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DE205F-F31E-A150-16DB-A5F28F4CFC3D}"/>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6" name="Footer Placeholder 5">
            <a:extLst>
              <a:ext uri="{FF2B5EF4-FFF2-40B4-BE49-F238E27FC236}">
                <a16:creationId xmlns:a16="http://schemas.microsoft.com/office/drawing/2014/main" id="{209DDE25-E8CC-6D90-13DA-9CE2EFD86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D9731C-CC10-50E9-61E2-A1B09E0959D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444302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09982-CF07-CF49-1BC1-856329E1E3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4BDD64-6777-B5FF-9E1B-02F918B279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47562E-1A02-AC37-CA45-85AF98A59B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73BDBC-934B-7FD3-E693-6A8D4FB6A8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794BDF-B636-4E67-F360-50921B1C70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2C20BD-FB6A-E178-E4A5-1096CCF6BA5A}"/>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8" name="Footer Placeholder 7">
            <a:extLst>
              <a:ext uri="{FF2B5EF4-FFF2-40B4-BE49-F238E27FC236}">
                <a16:creationId xmlns:a16="http://schemas.microsoft.com/office/drawing/2014/main" id="{74534BC6-3D1D-44F0-4847-83515409A1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AB00B9-D623-DE34-9B68-FD25D7F81A8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468733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02361-AF40-D301-90BB-978EC02479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51501C-9131-FE0B-55B7-6879CFE54705}"/>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4" name="Footer Placeholder 3">
            <a:extLst>
              <a:ext uri="{FF2B5EF4-FFF2-40B4-BE49-F238E27FC236}">
                <a16:creationId xmlns:a16="http://schemas.microsoft.com/office/drawing/2014/main" id="{8EFA3E8A-D848-050C-3AE0-FB2CDA5109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B4B4CB-3EB3-DACE-E3B9-C59943616A7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081722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9689AA-3833-2C17-10FE-19C5C30AA08A}"/>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3" name="Footer Placeholder 2">
            <a:extLst>
              <a:ext uri="{FF2B5EF4-FFF2-40B4-BE49-F238E27FC236}">
                <a16:creationId xmlns:a16="http://schemas.microsoft.com/office/drawing/2014/main" id="{3AAF0B4E-B117-9C90-502F-AE3A2B9241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469381-AC03-2704-4297-BE5B72E32F0F}"/>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482078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79E-F3E9-5532-6E09-36128A4BBA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D7B140-3ECC-64B2-6312-F13A1DD75A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820888-5E47-560A-39B6-EFCB04323B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5BF939-1ADA-DE80-DDE5-15D74D90DB96}"/>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6" name="Footer Placeholder 5">
            <a:extLst>
              <a:ext uri="{FF2B5EF4-FFF2-40B4-BE49-F238E27FC236}">
                <a16:creationId xmlns:a16="http://schemas.microsoft.com/office/drawing/2014/main" id="{609F2368-A998-CBDE-5EB3-C9BDAC22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711D77-6C57-3FA1-CC5A-CF9610AABC9F}"/>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65484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1A5DE-514C-D5FB-3459-7685E1F058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25D7B3-E4B6-8704-4188-559FAB5780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7C70FE-8332-825C-FEC1-B7F87C2AE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12F2E-144E-C316-B6A5-82687827CAC6}"/>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6" name="Footer Placeholder 5">
            <a:extLst>
              <a:ext uri="{FF2B5EF4-FFF2-40B4-BE49-F238E27FC236}">
                <a16:creationId xmlns:a16="http://schemas.microsoft.com/office/drawing/2014/main" id="{22E1754D-6E98-8A82-0E4B-F60946373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13DCDF-2E89-B214-70EE-D5896D446D02}"/>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884985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BE97E-CEF0-EEA5-ECB3-7F44194824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231E25-12FE-8465-DBC4-CEBB178A45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436DD-8349-5978-7EF0-9255C40CDCBA}"/>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5" name="Footer Placeholder 4">
            <a:extLst>
              <a:ext uri="{FF2B5EF4-FFF2-40B4-BE49-F238E27FC236}">
                <a16:creationId xmlns:a16="http://schemas.microsoft.com/office/drawing/2014/main" id="{F2F39D32-EEE7-97BB-3D1E-AD6250D15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5CF78-75DF-F0DE-DDF3-1DDB4FA56A0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891549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B17B7A-29C9-0224-4CAD-EA6A390C95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E3F22A-8E39-6DEC-F0D5-CCE5438316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6327DF-DF07-0B93-05AF-5143D57773CB}"/>
              </a:ext>
            </a:extLst>
          </p:cNvPr>
          <p:cNvSpPr>
            <a:spLocks noGrp="1"/>
          </p:cNvSpPr>
          <p:nvPr>
            <p:ph type="dt" sz="half" idx="10"/>
          </p:nvPr>
        </p:nvSpPr>
        <p:spPr/>
        <p:txBody>
          <a:bodyPr/>
          <a:lstStyle/>
          <a:p>
            <a:fld id="{7F6F2DA3-7368-4EB0-B3C1-11B414006FBB}" type="datetimeFigureOut">
              <a:rPr lang="en-US" smtClean="0"/>
              <a:t>12/16/2025</a:t>
            </a:fld>
            <a:endParaRPr lang="en-US"/>
          </a:p>
        </p:txBody>
      </p:sp>
      <p:sp>
        <p:nvSpPr>
          <p:cNvPr id="5" name="Footer Placeholder 4">
            <a:extLst>
              <a:ext uri="{FF2B5EF4-FFF2-40B4-BE49-F238E27FC236}">
                <a16:creationId xmlns:a16="http://schemas.microsoft.com/office/drawing/2014/main" id="{5EAA81EC-E672-D12F-78C9-F5BF84485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B84715-F937-6521-9798-8271339790D4}"/>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449986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E6D8B2-86EE-3DD6-A0C5-4F13CFAB47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335BEB-4D8D-C478-C67D-DD853D447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BA7A6-68EA-D537-9EBC-E9B77DA609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6F2DA3-7368-4EB0-B3C1-11B414006FBB}" type="datetimeFigureOut">
              <a:rPr lang="en-US" smtClean="0"/>
              <a:t>12/16/2025</a:t>
            </a:fld>
            <a:endParaRPr lang="en-US"/>
          </a:p>
        </p:txBody>
      </p:sp>
      <p:sp>
        <p:nvSpPr>
          <p:cNvPr id="5" name="Footer Placeholder 4">
            <a:extLst>
              <a:ext uri="{FF2B5EF4-FFF2-40B4-BE49-F238E27FC236}">
                <a16:creationId xmlns:a16="http://schemas.microsoft.com/office/drawing/2014/main" id="{188377A3-20AF-9E84-37A3-4E4D81F7F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C03559-4A31-4FDB-1FD9-8F755C4425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DD06BA-D0B3-481C-A63E-69C92A0C6F8D}" type="slidenum">
              <a:rPr lang="en-US" smtClean="0"/>
              <a:t>‹#›</a:t>
            </a:fld>
            <a:endParaRPr lang="en-US"/>
          </a:p>
        </p:txBody>
      </p:sp>
    </p:spTree>
    <p:extLst>
      <p:ext uri="{BB962C8B-B14F-4D97-AF65-F5344CB8AC3E}">
        <p14:creationId xmlns:p14="http://schemas.microsoft.com/office/powerpoint/2010/main" val="4110398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83201E-CF7C-3CF6-7112-BB8DB1C9296D}"/>
              </a:ext>
            </a:extLst>
          </p:cNvPr>
          <p:cNvSpPr txBox="1"/>
          <p:nvPr/>
        </p:nvSpPr>
        <p:spPr>
          <a:xfrm>
            <a:off x="838200" y="381000"/>
            <a:ext cx="10210800" cy="4524315"/>
          </a:xfrm>
          <a:prstGeom prst="rect">
            <a:avLst/>
          </a:prstGeom>
          <a:noFill/>
        </p:spPr>
        <p:txBody>
          <a:bodyPr wrap="square" rtlCol="0">
            <a:spAutoFit/>
          </a:bodyPr>
          <a:lstStyle/>
          <a:p>
            <a:r>
              <a:rPr lang="en-US" b="1" dirty="0"/>
              <a:t>Objectives</a:t>
            </a:r>
            <a:r>
              <a:rPr lang="en-US" dirty="0"/>
              <a:t>:</a:t>
            </a:r>
          </a:p>
          <a:p>
            <a:pPr marL="342900" indent="-342900" algn="just">
              <a:buFont typeface="Arial" panose="020B0604020202020204" pitchFamily="34" charset="0"/>
              <a:buChar char="•"/>
            </a:pPr>
            <a:r>
              <a:rPr lang="en-US" dirty="0"/>
              <a:t>Determine whether there are measurable differences in quality and reliability between components that are AEC qualified parts and comparable (with same temperature, capacitance and case size) non-automotive grade parts (commercial/standard).</a:t>
            </a:r>
            <a:endParaRPr lang="en-US" dirty="0">
              <a:solidFill>
                <a:srgbClr val="FF0000"/>
              </a:solidFill>
            </a:endParaRPr>
          </a:p>
          <a:p>
            <a:pPr marL="800100" lvl="1" indent="-342900" algn="just">
              <a:buFont typeface="Arial" panose="020B0604020202020204" pitchFamily="34" charset="0"/>
              <a:buChar char="•"/>
            </a:pPr>
            <a:r>
              <a:rPr lang="en-US" dirty="0"/>
              <a:t>Quality through the use of process capability (equation) of as received parts (on board) and individual parts analysis.</a:t>
            </a:r>
          </a:p>
          <a:p>
            <a:pPr marL="800100" lvl="1" indent="-342900" algn="just">
              <a:buFont typeface="Arial" panose="020B0604020202020204" pitchFamily="34" charset="0"/>
              <a:buChar char="•"/>
            </a:pPr>
            <a:r>
              <a:rPr lang="en-US" dirty="0"/>
              <a:t>Reliability through the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highly accelerated life test (</a:t>
            </a:r>
            <a:r>
              <a:rPr kumimoji="0" lang="en-US"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HALT for MLCCs: temp + DC bias)</a:t>
            </a:r>
            <a:r>
              <a:rPr lang="en-US" dirty="0"/>
              <a:t> testing for 5000 hrs. </a:t>
            </a:r>
          </a:p>
          <a:p>
            <a:pPr algn="just"/>
            <a:r>
              <a:rPr lang="en-US" b="1" dirty="0"/>
              <a:t>Background:</a:t>
            </a:r>
            <a:endParaRPr lang="en-US" altLang="en-US" sz="2400" dirty="0">
              <a:cs typeface="Times New Roman" panose="02020603050405020304" pitchFamily="18" charset="0"/>
            </a:endParaRPr>
          </a:p>
          <a:p>
            <a:pPr marL="342900" indent="-342900" algn="just">
              <a:buFont typeface="Arial" panose="020B0604020202020204" pitchFamily="34" charset="0"/>
              <a:buChar char="•"/>
            </a:pPr>
            <a:r>
              <a:rPr lang="en-US" altLang="en-US" dirty="0">
                <a:cs typeface="Times New Roman" panose="02020603050405020304" pitchFamily="18" charset="0"/>
              </a:rPr>
              <a:t>AEC-Q200 is a standard that defines the minimum stress-test driven qualification requirements that must be met by automotive grade passive parts.</a:t>
            </a:r>
          </a:p>
          <a:p>
            <a:pPr marL="342900" indent="-342900" algn="just">
              <a:buFont typeface="Arial" panose="020B0604020202020204" pitchFamily="34" charset="0"/>
              <a:buChar char="•"/>
            </a:pPr>
            <a:r>
              <a:rPr lang="en-US" altLang="en-US" dirty="0">
                <a:cs typeface="Times New Roman" panose="02020603050405020304" pitchFamily="18" charset="0"/>
              </a:rPr>
              <a:t>Based on the size of component and type of qualification either an individual component or family.</a:t>
            </a:r>
          </a:p>
          <a:p>
            <a:pPr marL="342900" indent="-342900" algn="just">
              <a:buFont typeface="Arial" panose="020B0604020202020204" pitchFamily="34" charset="0"/>
              <a:buChar char="•"/>
            </a:pPr>
            <a:r>
              <a:rPr lang="en-US" altLang="en-US" dirty="0">
                <a:cs typeface="Times New Roman" panose="02020603050405020304" pitchFamily="18" charset="0"/>
              </a:rPr>
              <a:t>In case of family qualification for Class II MLCCs the sample size to be tested is 77 parts and 3 lots.</a:t>
            </a:r>
          </a:p>
          <a:p>
            <a:pPr marL="342900" indent="-342900" algn="just">
              <a:buFont typeface="Arial" panose="020B0604020202020204" pitchFamily="34" charset="0"/>
              <a:buChar char="•"/>
            </a:pPr>
            <a:r>
              <a:rPr lang="en-US" altLang="en-US" dirty="0">
                <a:cs typeface="Times New Roman" panose="02020603050405020304" pitchFamily="18" charset="0"/>
              </a:rPr>
              <a:t>Exploring whether we can use combined pool of these parts based on this comparison.</a:t>
            </a:r>
          </a:p>
          <a:p>
            <a:pPr marL="342900" indent="-342900" algn="just">
              <a:buFont typeface="Arial" panose="020B0604020202020204" pitchFamily="34" charset="0"/>
              <a:buChar char="•"/>
            </a:pPr>
            <a:r>
              <a:rPr lang="en-US" altLang="en-US" dirty="0">
                <a:cs typeface="Times New Roman" panose="02020603050405020304" pitchFamily="18" charset="0"/>
              </a:rPr>
              <a:t>The 2 possible mechanisms for insulation resistance degradation in MLCCs are cracks and oxygen vacancy migration.</a:t>
            </a:r>
          </a:p>
        </p:txBody>
      </p:sp>
    </p:spTree>
    <p:extLst>
      <p:ext uri="{BB962C8B-B14F-4D97-AF65-F5344CB8AC3E}">
        <p14:creationId xmlns:p14="http://schemas.microsoft.com/office/powerpoint/2010/main" val="233129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C1383B0-2960-5C67-606A-17B795FC7449}"/>
              </a:ext>
            </a:extLst>
          </p:cNvPr>
          <p:cNvSpPr txBox="1">
            <a:spLocks/>
          </p:cNvSpPr>
          <p:nvPr/>
        </p:nvSpPr>
        <p:spPr>
          <a:xfrm>
            <a:off x="609600" y="274638"/>
            <a:ext cx="10972800" cy="1143000"/>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a:t>
            </a:r>
            <a:b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b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Automotive and Non-Automotive Commercial-Off-the-Shelf (COTS) Testing by NASA Engineering and Safety Center </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sp>
        <p:nvSpPr>
          <p:cNvPr id="6" name="Content Placeholder 2">
            <a:extLst>
              <a:ext uri="{FF2B5EF4-FFF2-40B4-BE49-F238E27FC236}">
                <a16:creationId xmlns:a16="http://schemas.microsoft.com/office/drawing/2014/main" id="{00F2D20F-7D86-DDA8-C012-6B53CF8A419E}"/>
              </a:ext>
            </a:extLst>
          </p:cNvPr>
          <p:cNvSpPr txBox="1">
            <a:spLocks/>
          </p:cNvSpPr>
          <p:nvPr/>
        </p:nvSpPr>
        <p:spPr>
          <a:xfrm>
            <a:off x="609600" y="1429183"/>
            <a:ext cx="10972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Automotive and non-automotive COTS EEE part types tested exhibited a high Destructive Physical Analysis (DPA) defect rate (i.e., 21% for automotive, and 22% for non-automotive parts) with statistically indistinguishable patterns of non-conformances to NASA GSFC S-311-M-70 (Specification for Destructive Physical Analyses).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During environmental testing, one of six automotive, and one of one non-automotive COTS EEE part types did not pass the subset of the Automotive Executive Council (AEC) Q101 qualification tests, due to electrical failures observed after highly accelerated stress testing (HAST) and thermal cycling.</a:t>
            </a: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5676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E9C8CA5-05A1-E26A-43E0-53978D6BEE6D}"/>
              </a:ext>
            </a:extLst>
          </p:cNvPr>
          <p:cNvSpPr txBox="1">
            <a:spLocks/>
          </p:cNvSpPr>
          <p:nvPr/>
        </p:nvSpPr>
        <p:spPr>
          <a:xfrm>
            <a:off x="609600" y="-167398"/>
            <a:ext cx="109728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 of AEC-Q200 MLCCs</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DDB9CD2D-4716-5B3C-D8CE-E2C5638D12EC}"/>
              </a:ext>
            </a:extLst>
          </p:cNvPr>
          <p:cNvPicPr>
            <a:picLocks noChangeAspect="1"/>
          </p:cNvPicPr>
          <p:nvPr/>
        </p:nvPicPr>
        <p:blipFill>
          <a:blip r:embed="rId2"/>
          <a:stretch>
            <a:fillRect/>
          </a:stretch>
        </p:blipFill>
        <p:spPr>
          <a:xfrm>
            <a:off x="1676400" y="733165"/>
            <a:ext cx="8083735" cy="5391670"/>
          </a:xfrm>
          <a:prstGeom prst="rect">
            <a:avLst/>
          </a:prstGeom>
        </p:spPr>
      </p:pic>
      <p:sp>
        <p:nvSpPr>
          <p:cNvPr id="7" name="TextBox 6">
            <a:extLst>
              <a:ext uri="{FF2B5EF4-FFF2-40B4-BE49-F238E27FC236}">
                <a16:creationId xmlns:a16="http://schemas.microsoft.com/office/drawing/2014/main" id="{DFEA348C-03A5-C453-47CA-75B8EEE65595}"/>
              </a:ext>
            </a:extLst>
          </p:cNvPr>
          <p:cNvSpPr txBox="1"/>
          <p:nvPr/>
        </p:nvSpPr>
        <p:spPr>
          <a:xfrm>
            <a:off x="762000" y="6124835"/>
            <a:ext cx="11201400" cy="369332"/>
          </a:xfrm>
          <a:prstGeom prst="rect">
            <a:avLst/>
          </a:prstGeom>
          <a:noFill/>
        </p:spPr>
        <p:txBody>
          <a:bodyPr wrap="square">
            <a:spAutoFit/>
          </a:bodyPr>
          <a:lstStyle/>
          <a:p>
            <a:pPr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Michael J. Sampson, An Overview Of NASA Automotive Component Reliability Studies</a:t>
            </a:r>
          </a:p>
        </p:txBody>
      </p:sp>
    </p:spTree>
    <p:extLst>
      <p:ext uri="{BB962C8B-B14F-4D97-AF65-F5344CB8AC3E}">
        <p14:creationId xmlns:p14="http://schemas.microsoft.com/office/powerpoint/2010/main" val="1249294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6F41-1024-92B0-5934-1753A9BCDCE0}"/>
              </a:ext>
            </a:extLst>
          </p:cNvPr>
          <p:cNvSpPr txBox="1">
            <a:spLocks/>
          </p:cNvSpPr>
          <p:nvPr/>
        </p:nvSpPr>
        <p:spPr>
          <a:xfrm>
            <a:off x="2438400" y="101169"/>
            <a:ext cx="8610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 of AECQ Components for Space Application</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9031763C-A4B5-B16E-F826-792CBEF362EF}"/>
              </a:ext>
            </a:extLst>
          </p:cNvPr>
          <p:cNvSpPr txBox="1">
            <a:spLocks/>
          </p:cNvSpPr>
          <p:nvPr/>
        </p:nvSpPr>
        <p:spPr>
          <a:xfrm>
            <a:off x="543403" y="1295400"/>
            <a:ext cx="5257800" cy="4114800"/>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Investigated both active and passive AECQ components: for variability lot-to-lot, part-to-part, construction analysis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Reliability with Thermal Cycling (500 Cycles from -55 ° C to +125 ° C) THB (1000hours at 85°C / 85% RH, biased) &amp; HTOL Tests (1,000 hours at +125 ° C with bias), Inspection &amp; Electrical Test (Before/After Stress)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No failures reported in reliability tests and observed electrical parameter drift but was within the specification limits.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Results indicated a potential for use of AEC parts limited to the tested parts</a:t>
            </a: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DCDCD9CF-2AED-D915-B5F8-6B292D753835}"/>
              </a:ext>
            </a:extLst>
          </p:cNvPr>
          <p:cNvSpPr txBox="1"/>
          <p:nvPr/>
        </p:nvSpPr>
        <p:spPr>
          <a:xfrm>
            <a:off x="304800" y="5715000"/>
            <a:ext cx="11582400" cy="646331"/>
          </a:xfrm>
          <a:prstGeom prst="rect">
            <a:avLst/>
          </a:prstGeom>
          <a:noFill/>
        </p:spPr>
        <p:txBody>
          <a:bodyPr wrap="square">
            <a:spAutoFit/>
          </a:bodyPr>
          <a:lstStyle/>
          <a:p>
            <a:pPr eaLnBrk="0" fontAlgn="base" hangingPunct="0">
              <a:spcBef>
                <a:spcPct val="0"/>
              </a:spcBef>
              <a:spcAft>
                <a:spcPct val="0"/>
              </a:spcAft>
              <a:defRPr/>
            </a:pPr>
            <a:r>
              <a:rPr lang="fr-FR" dirty="0" err="1">
                <a:solidFill>
                  <a:prstClr val="black"/>
                </a:solidFill>
                <a:latin typeface="Times New Roman" panose="02020603050405020304" pitchFamily="18" charset="0"/>
              </a:rPr>
              <a:t>Finbarr</a:t>
            </a:r>
            <a:r>
              <a:rPr lang="fr-FR" dirty="0">
                <a:solidFill>
                  <a:prstClr val="black"/>
                </a:solidFill>
                <a:latin typeface="Times New Roman" panose="02020603050405020304" pitchFamily="18" charset="0"/>
              </a:rPr>
              <a:t> Waldron, Luis de Pablo, Stephan Hernandez, </a:t>
            </a:r>
            <a:r>
              <a:rPr lang="en-US" dirty="0">
                <a:solidFill>
                  <a:prstClr val="black"/>
                </a:solidFill>
                <a:latin typeface="Times New Roman" panose="02020603050405020304" pitchFamily="18" charset="0"/>
              </a:rPr>
              <a:t>Assessment of Automotive EEE Components Suitability For Space Applications, 22nd Sept 2021</a:t>
            </a:r>
          </a:p>
        </p:txBody>
      </p:sp>
      <p:pic>
        <p:nvPicPr>
          <p:cNvPr id="5" name="Picture 4">
            <a:extLst>
              <a:ext uri="{FF2B5EF4-FFF2-40B4-BE49-F238E27FC236}">
                <a16:creationId xmlns:a16="http://schemas.microsoft.com/office/drawing/2014/main" id="{352FAA07-D4A1-EF0D-962A-6BC7F7EAEDF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6123709" y="1260333"/>
            <a:ext cx="5257800" cy="4226966"/>
          </a:xfrm>
          <a:prstGeom prst="rect">
            <a:avLst/>
          </a:prstGeom>
        </p:spPr>
      </p:pic>
    </p:spTree>
    <p:extLst>
      <p:ext uri="{BB962C8B-B14F-4D97-AF65-F5344CB8AC3E}">
        <p14:creationId xmlns:p14="http://schemas.microsoft.com/office/powerpoint/2010/main" val="114885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9">
            <a:extLst>
              <a:ext uri="{FF2B5EF4-FFF2-40B4-BE49-F238E27FC236}">
                <a16:creationId xmlns:a16="http://schemas.microsoft.com/office/drawing/2014/main" id="{823D78CE-7132-7CF5-C19A-22818E7574FE}"/>
              </a:ext>
            </a:extLst>
          </p:cNvPr>
          <p:cNvSpPr txBox="1">
            <a:spLocks noChangeArrowheads="1"/>
          </p:cNvSpPr>
          <p:nvPr/>
        </p:nvSpPr>
        <p:spPr bwMode="auto">
          <a:xfrm>
            <a:off x="4055810" y="253425"/>
            <a:ext cx="35544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MLCCs </a:t>
            </a:r>
            <a:r>
              <a:rPr lang="en-US" altLang="en-US" b="1" dirty="0">
                <a:solidFill>
                  <a:srgbClr val="000000"/>
                </a:solidFill>
              </a:rPr>
              <a:t>under Test</a:t>
            </a:r>
            <a:endParaRPr kumimoji="0" lang="en-US"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graphicFrame>
        <p:nvGraphicFramePr>
          <p:cNvPr id="3" name="Table 2">
            <a:extLst>
              <a:ext uri="{FF2B5EF4-FFF2-40B4-BE49-F238E27FC236}">
                <a16:creationId xmlns:a16="http://schemas.microsoft.com/office/drawing/2014/main" id="{1973DCEA-21A9-5DE0-040B-70C19402500A}"/>
              </a:ext>
            </a:extLst>
          </p:cNvPr>
          <p:cNvGraphicFramePr>
            <a:graphicFrameLocks noGrp="1"/>
          </p:cNvGraphicFramePr>
          <p:nvPr>
            <p:extLst>
              <p:ext uri="{D42A27DB-BD31-4B8C-83A1-F6EECF244321}">
                <p14:modId xmlns:p14="http://schemas.microsoft.com/office/powerpoint/2010/main" val="1257076454"/>
              </p:ext>
            </p:extLst>
          </p:nvPr>
        </p:nvGraphicFramePr>
        <p:xfrm>
          <a:off x="609600" y="800101"/>
          <a:ext cx="10439400" cy="5029199"/>
        </p:xfrm>
        <a:graphic>
          <a:graphicData uri="http://schemas.openxmlformats.org/drawingml/2006/table">
            <a:tbl>
              <a:tblPr>
                <a:tableStyleId>{616DA210-FB5B-4158-B5E0-FEB733F419BA}</a:tableStyleId>
              </a:tblPr>
              <a:tblGrid>
                <a:gridCol w="5867400">
                  <a:extLst>
                    <a:ext uri="{9D8B030D-6E8A-4147-A177-3AD203B41FA5}">
                      <a16:colId xmlns:a16="http://schemas.microsoft.com/office/drawing/2014/main" val="2210395225"/>
                    </a:ext>
                  </a:extLst>
                </a:gridCol>
                <a:gridCol w="2133600">
                  <a:extLst>
                    <a:ext uri="{9D8B030D-6E8A-4147-A177-3AD203B41FA5}">
                      <a16:colId xmlns:a16="http://schemas.microsoft.com/office/drawing/2014/main" val="1261155564"/>
                    </a:ext>
                  </a:extLst>
                </a:gridCol>
                <a:gridCol w="2438400">
                  <a:extLst>
                    <a:ext uri="{9D8B030D-6E8A-4147-A177-3AD203B41FA5}">
                      <a16:colId xmlns:a16="http://schemas.microsoft.com/office/drawing/2014/main" val="3219999736"/>
                    </a:ext>
                  </a:extLst>
                </a:gridCol>
              </a:tblGrid>
              <a:tr h="1167494">
                <a:tc>
                  <a:txBody>
                    <a:bodyPr/>
                    <a:lstStyle/>
                    <a:p>
                      <a:pPr algn="ctr" fontAlgn="ctr"/>
                      <a:r>
                        <a:rPr lang="en-US" sz="2800" b="1" u="none" strike="noStrike" dirty="0">
                          <a:effectLst/>
                          <a:latin typeface="Times New Roman" panose="02020603050405020304" pitchFamily="18" charset="0"/>
                          <a:cs typeface="Times New Roman" panose="02020603050405020304" pitchFamily="18" charset="0"/>
                        </a:rPr>
                        <a:t>Description</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800" b="1" u="none" strike="noStrike" dirty="0">
                          <a:effectLst/>
                          <a:latin typeface="Times New Roman" panose="02020603050405020304" pitchFamily="18" charset="0"/>
                          <a:cs typeface="Times New Roman" panose="02020603050405020304" pitchFamily="18" charset="0"/>
                        </a:rPr>
                        <a:t>Lot Identifier</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tc>
                  <a:txBody>
                    <a:bodyPr/>
                    <a:lstStyle/>
                    <a:p>
                      <a:pPr algn="ctr" fontAlgn="ctr"/>
                      <a:r>
                        <a:rPr lang="en-US" sz="2800" b="1" u="none" strike="noStrike" dirty="0">
                          <a:effectLst/>
                          <a:latin typeface="Times New Roman" panose="02020603050405020304" pitchFamily="18" charset="0"/>
                          <a:cs typeface="Times New Roman" panose="02020603050405020304" pitchFamily="18" charset="0"/>
                        </a:rPr>
                        <a:t>AEC-Q200</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extLst>
                  <a:ext uri="{0D108BD9-81ED-4DB2-BD59-A6C34878D82A}">
                    <a16:rowId xmlns:a16="http://schemas.microsoft.com/office/drawing/2014/main" val="1423109910"/>
                  </a:ext>
                </a:extLst>
              </a:tr>
              <a:tr h="772341">
                <a:tc rowSpan="2">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Cap ceramic 220 nF 16 V X7R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Case size: 0805, -55 ℃ to 125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M1</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1A, 1B, 1C</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4543" marR="4543" marT="4543" marB="0" anchor="ctr"/>
                </a:tc>
                <a:extLst>
                  <a:ext uri="{0D108BD9-81ED-4DB2-BD59-A6C34878D82A}">
                    <a16:rowId xmlns:a16="http://schemas.microsoft.com/office/drawing/2014/main" val="1135260456"/>
                  </a:ext>
                </a:extLst>
              </a:tr>
              <a:tr h="772341">
                <a:tc vMerge="1">
                  <a:txBody>
                    <a:bodyPr/>
                    <a:lstStyle/>
                    <a:p>
                      <a:pPr algn="ctr" fontAlgn="ctr"/>
                      <a:endParaRPr lang="pt-BR" sz="1900" b="0" i="0" u="none" strike="noStrike" dirty="0">
                        <a:solidFill>
                          <a:srgbClr val="000000"/>
                        </a:solidFill>
                        <a:effectLst/>
                        <a:latin typeface="+mn-lt"/>
                      </a:endParaRPr>
                    </a:p>
                  </a:txBody>
                  <a:tcPr marL="4543" marR="4543" marT="454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2400" b="0" i="0" u="none" strike="noStrike" dirty="0">
                          <a:solidFill>
                            <a:srgbClr val="000000"/>
                          </a:solidFill>
                          <a:effectLst/>
                          <a:latin typeface="Times New Roman" panose="02020603050405020304" pitchFamily="18" charset="0"/>
                          <a:cs typeface="Times New Roman" panose="02020603050405020304" pitchFamily="18" charset="0"/>
                        </a:rPr>
                        <a:t>2A, 2B, 2C</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Yes</a:t>
                      </a:r>
                    </a:p>
                  </a:txBody>
                  <a:tcPr marL="4543" marR="4543" marT="4543" marB="0" anchor="ctr"/>
                </a:tc>
                <a:extLst>
                  <a:ext uri="{0D108BD9-81ED-4DB2-BD59-A6C34878D82A}">
                    <a16:rowId xmlns:a16="http://schemas.microsoft.com/office/drawing/2014/main" val="4084211"/>
                  </a:ext>
                </a:extLst>
              </a:tr>
              <a:tr h="772341">
                <a:tc rowSpan="2">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Cap ceramic 220 nF 16 V X7R</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Case size: 0805, -55 ℃ to 125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M2</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3A</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Yes</a:t>
                      </a:r>
                    </a:p>
                  </a:txBody>
                  <a:tcPr marL="4543" marR="4543" marT="4543" marB="0" anchor="ctr"/>
                </a:tc>
                <a:extLst>
                  <a:ext uri="{0D108BD9-81ED-4DB2-BD59-A6C34878D82A}">
                    <a16:rowId xmlns:a16="http://schemas.microsoft.com/office/drawing/2014/main" val="6452400"/>
                  </a:ext>
                </a:extLst>
              </a:tr>
              <a:tr h="772341">
                <a:tc vMerge="1">
                  <a:txBody>
                    <a:bodyPr/>
                    <a:lstStyle/>
                    <a:p>
                      <a:pPr algn="ctr" fontAlgn="ctr"/>
                      <a:endParaRPr lang="pt-BR" sz="1900" b="0" i="0" u="none" strike="noStrike" dirty="0">
                        <a:solidFill>
                          <a:srgbClr val="000000"/>
                        </a:solidFill>
                        <a:effectLst/>
                        <a:latin typeface="+mn-lt"/>
                      </a:endParaRP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4A</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4543" marR="4543" marT="4543" marB="0" anchor="ctr"/>
                </a:tc>
                <a:extLst>
                  <a:ext uri="{0D108BD9-81ED-4DB2-BD59-A6C34878D82A}">
                    <a16:rowId xmlns:a16="http://schemas.microsoft.com/office/drawing/2014/main" val="4258551315"/>
                  </a:ext>
                </a:extLst>
              </a:tr>
              <a:tr h="772341">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Total</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4543" marR="4543" marT="4543" marB="0" anchor="ctr"/>
                </a:tc>
                <a:tc>
                  <a:txBody>
                    <a:bodyPr/>
                    <a:lstStyle/>
                    <a:p>
                      <a:pPr algn="ctr" fontAlgn="ct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43" marR="4543" marT="4543" marB="0" anchor="ctr"/>
                </a:tc>
                <a:extLst>
                  <a:ext uri="{0D108BD9-81ED-4DB2-BD59-A6C34878D82A}">
                    <a16:rowId xmlns:a16="http://schemas.microsoft.com/office/drawing/2014/main" val="1019751629"/>
                  </a:ext>
                </a:extLst>
              </a:tr>
            </a:tbl>
          </a:graphicData>
        </a:graphic>
      </p:graphicFrame>
    </p:spTree>
    <p:extLst>
      <p:ext uri="{BB962C8B-B14F-4D97-AF65-F5344CB8AC3E}">
        <p14:creationId xmlns:p14="http://schemas.microsoft.com/office/powerpoint/2010/main" val="1967248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AFD1C6C8-4B2A-4469-4003-57E5C4C0131B}"/>
              </a:ext>
            </a:extLst>
          </p:cNvPr>
          <p:cNvSpPr txBox="1">
            <a:spLocks noChangeArrowheads="1"/>
          </p:cNvSpPr>
          <p:nvPr/>
        </p:nvSpPr>
        <p:spPr bwMode="auto">
          <a:xfrm>
            <a:off x="762000" y="1351508"/>
            <a:ext cx="1097989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Times New Roman" panose="02020603050405020304" pitchFamily="18" charset="0"/>
              </a:rPr>
              <a:t>Pre-test analysis :</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Performed optical microscopy of as received parts.</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Took measurements of capacitance (C), dissipation factor (DF), and leakage current on parts as received.</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Completed de-aging at 150 </a:t>
            </a: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rPr>
              <a:t>ºC for 30 minutes and </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took measurements of C, DF, leakage current of parts again.</a:t>
            </a:r>
          </a:p>
          <a:p>
            <a:pPr marL="342900" marR="0" lvl="0" indent="-342900" defTabSz="914400" eaLnBrk="1" fontAlgn="base" latinLnBrk="0" hangingPunct="1">
              <a:lnSpc>
                <a:spcPct val="100000"/>
              </a:lnSpc>
              <a:spcBef>
                <a:spcPct val="0"/>
              </a:spcBef>
              <a:spcAft>
                <a:spcPct val="0"/>
              </a:spcAft>
              <a:buClrTx/>
              <a:buSzTx/>
              <a:buFontTx/>
              <a:buChar char="•"/>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Times New Roman" panose="02020603050405020304" pitchFamily="18" charset="0"/>
              </a:rPr>
              <a:t>Testing :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HALT (highly accelerated life testing) at 2x</a:t>
            </a:r>
            <a:r>
              <a:rPr kumimoji="0" lang="en-US" sz="2400" b="0" i="0" u="none" strike="noStrike" kern="0" cap="none" spc="0" normalizeH="0" baseline="0" noProof="0" dirty="0">
                <a:ln>
                  <a:noFill/>
                </a:ln>
                <a:solidFill>
                  <a:srgbClr val="000000"/>
                </a:solidFill>
                <a:effectLst/>
                <a:uLnTx/>
                <a:uFillTx/>
                <a:latin typeface="Times New Roman"/>
              </a:rPr>
              <a:t>V</a:t>
            </a:r>
            <a:r>
              <a:rPr kumimoji="0" lang="en-US" sz="2400" b="0" i="0" u="none" strike="noStrike" kern="0" cap="none" spc="0" normalizeH="0" baseline="-25000" noProof="0" dirty="0">
                <a:ln>
                  <a:noFill/>
                </a:ln>
                <a:solidFill>
                  <a:srgbClr val="000000"/>
                </a:solidFill>
                <a:effectLst/>
                <a:uLnTx/>
                <a:uFillTx/>
                <a:latin typeface="Times New Roman"/>
              </a:rPr>
              <a:t>Rated </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DC (32V), 125 ºC as per NASA environmental testing conditions, for 5200 hours with test measurement times (at room temperature) as </a:t>
            </a:r>
            <a:r>
              <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rPr>
              <a:t>24, 48, 250, 500, 750, 1000, 1500, 2000, 2500, 3000, 3500, 4000, 4500, 5200 hours</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a:t>
            </a:r>
          </a:p>
        </p:txBody>
      </p:sp>
      <p:sp>
        <p:nvSpPr>
          <p:cNvPr id="5" name="Text Box 129">
            <a:extLst>
              <a:ext uri="{FF2B5EF4-FFF2-40B4-BE49-F238E27FC236}">
                <a16:creationId xmlns:a16="http://schemas.microsoft.com/office/drawing/2014/main" id="{6C771A8F-E31C-DFE0-9E9A-1BA0482C554F}"/>
              </a:ext>
            </a:extLst>
          </p:cNvPr>
          <p:cNvSpPr txBox="1">
            <a:spLocks noChangeArrowheads="1"/>
          </p:cNvSpPr>
          <p:nvPr/>
        </p:nvSpPr>
        <p:spPr bwMode="auto">
          <a:xfrm>
            <a:off x="4681400" y="0"/>
            <a:ext cx="25173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3200" b="1" i="0" u="none" strike="noStrike" kern="0" cap="none" spc="0" normalizeH="0" baseline="0" noProof="0" dirty="0">
                <a:ln>
                  <a:noFill/>
                </a:ln>
                <a:solidFill>
                  <a:srgbClr val="000000"/>
                </a:solidFill>
                <a:effectLst/>
                <a:uLnTx/>
                <a:uFillTx/>
                <a:latin typeface="Times New Roman" panose="02020603050405020304" pitchFamily="18" charset="0"/>
              </a:rPr>
              <a:t>Test Progress</a:t>
            </a:r>
          </a:p>
        </p:txBody>
      </p:sp>
    </p:spTree>
    <p:extLst>
      <p:ext uri="{BB962C8B-B14F-4D97-AF65-F5344CB8AC3E}">
        <p14:creationId xmlns:p14="http://schemas.microsoft.com/office/powerpoint/2010/main" val="453511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43BB-A3D9-F667-13C0-E10F93F2B1F0}"/>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B2A1DCBB-1CBC-F347-3B93-77058FAC6E29}"/>
              </a:ext>
            </a:extLst>
          </p:cNvPr>
          <p:cNvSpPr>
            <a:spLocks noGrp="1"/>
          </p:cNvSpPr>
          <p:nvPr>
            <p:ph idx="1"/>
          </p:nvPr>
        </p:nvSpPr>
        <p:spPr/>
        <p:txBody>
          <a:bodyPr/>
          <a:lstStyle/>
          <a:p>
            <a:r>
              <a:rPr lang="en-US" dirty="0"/>
              <a:t>Capacitance was well within range specified.</a:t>
            </a:r>
          </a:p>
          <a:p>
            <a:r>
              <a:rPr lang="en-US" dirty="0"/>
              <a:t>Dissipation factor, M2 had precision and was close to its limit.</a:t>
            </a:r>
          </a:p>
          <a:p>
            <a:r>
              <a:rPr lang="en-US" dirty="0"/>
              <a:t>Insulation Resistance: dropped by observed manufacturer dependent trends.</a:t>
            </a:r>
          </a:p>
        </p:txBody>
      </p:sp>
    </p:spTree>
    <p:extLst>
      <p:ext uri="{BB962C8B-B14F-4D97-AF65-F5344CB8AC3E}">
        <p14:creationId xmlns:p14="http://schemas.microsoft.com/office/powerpoint/2010/main" val="3384723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95635B7-41A3-FE0C-41DA-2147EEE27E2F}"/>
              </a:ext>
            </a:extLst>
          </p:cNvPr>
          <p:cNvSpPr>
            <a:spLocks noGrp="1"/>
          </p:cNvSpPr>
          <p:nvPr>
            <p:ph type="title"/>
          </p:nvPr>
        </p:nvSpPr>
        <p:spPr>
          <a:xfrm>
            <a:off x="230124" y="-19015"/>
            <a:ext cx="10972800" cy="1143000"/>
          </a:xfrm>
        </p:spPr>
        <p:txBody>
          <a:bodyPr/>
          <a:lstStyle/>
          <a:p>
            <a:r>
              <a:rPr lang="en-US" dirty="0"/>
              <a:t>O</a:t>
            </a:r>
            <a:r>
              <a:rPr lang="en-US" altLang="zh-CN" dirty="0"/>
              <a:t>ne-Way </a:t>
            </a:r>
            <a:r>
              <a:rPr lang="en-US" dirty="0"/>
              <a:t>ANOVA</a:t>
            </a:r>
          </a:p>
        </p:txBody>
      </p:sp>
      <p:sp>
        <p:nvSpPr>
          <p:cNvPr id="9" name="TextBox 8">
            <a:extLst>
              <a:ext uri="{FF2B5EF4-FFF2-40B4-BE49-F238E27FC236}">
                <a16:creationId xmlns:a16="http://schemas.microsoft.com/office/drawing/2014/main" id="{7C7E92D0-0F53-30B8-2E71-8765538AFB1A}"/>
              </a:ext>
            </a:extLst>
          </p:cNvPr>
          <p:cNvSpPr txBox="1"/>
          <p:nvPr/>
        </p:nvSpPr>
        <p:spPr>
          <a:xfrm>
            <a:off x="266700" y="774213"/>
            <a:ext cx="11658600" cy="830997"/>
          </a:xfrm>
          <a:prstGeom prst="rect">
            <a:avLst/>
          </a:prstGeom>
          <a:noFill/>
        </p:spPr>
        <p:txBody>
          <a:bodyPr wrap="square" rtlCol="0">
            <a:spAutoFit/>
          </a:bodyPr>
          <a:lstStyle/>
          <a:p>
            <a:r>
              <a:rPr lang="en-US" dirty="0"/>
              <a:t>Null Hypothesis:</a:t>
            </a:r>
          </a:p>
          <a:p>
            <a:r>
              <a:rPr lang="en-US" dirty="0"/>
              <a:t>There is no difference in the population means of the different levels of factor A</a:t>
            </a:r>
          </a:p>
        </p:txBody>
      </p:sp>
      <p:sp>
        <p:nvSpPr>
          <p:cNvPr id="10" name="Freeform: Shape 9">
            <a:extLst>
              <a:ext uri="{FF2B5EF4-FFF2-40B4-BE49-F238E27FC236}">
                <a16:creationId xmlns:a16="http://schemas.microsoft.com/office/drawing/2014/main" id="{92DD6CC7-2AEF-570B-2B8C-4D933C17AB97}"/>
              </a:ext>
            </a:extLst>
          </p:cNvPr>
          <p:cNvSpPr/>
          <p:nvPr/>
        </p:nvSpPr>
        <p:spPr bwMode="auto">
          <a:xfrm>
            <a:off x="905094" y="2429882"/>
            <a:ext cx="4160171" cy="2897023"/>
          </a:xfrm>
          <a:custGeom>
            <a:avLst/>
            <a:gdLst>
              <a:gd name="connsiteX0" fmla="*/ 0 w 4160171"/>
              <a:gd name="connsiteY0" fmla="*/ 2764400 h 2897023"/>
              <a:gd name="connsiteX1" fmla="*/ 2045185 w 4160171"/>
              <a:gd name="connsiteY1" fmla="*/ 259 h 2897023"/>
              <a:gd name="connsiteX2" fmla="*/ 4160171 w 4160171"/>
              <a:gd name="connsiteY2" fmla="*/ 2897023 h 2897023"/>
            </a:gdLst>
            <a:ahLst/>
            <a:cxnLst>
              <a:cxn ang="0">
                <a:pos x="connsiteX0" y="connsiteY0"/>
              </a:cxn>
              <a:cxn ang="0">
                <a:pos x="connsiteX1" y="connsiteY1"/>
              </a:cxn>
              <a:cxn ang="0">
                <a:pos x="connsiteX2" y="connsiteY2"/>
              </a:cxn>
            </a:cxnLst>
            <a:rect l="l" t="t" r="r" b="b"/>
            <a:pathLst>
              <a:path w="4160171" h="2897023">
                <a:moveTo>
                  <a:pt x="0" y="2764400"/>
                </a:moveTo>
                <a:cubicBezTo>
                  <a:pt x="675911" y="1371277"/>
                  <a:pt x="1351823" y="-21845"/>
                  <a:pt x="2045185" y="259"/>
                </a:cubicBezTo>
                <a:cubicBezTo>
                  <a:pt x="2738547" y="22363"/>
                  <a:pt x="3779753" y="2401432"/>
                  <a:pt x="4160171" y="2897023"/>
                </a:cubicBezTo>
              </a:path>
            </a:pathLst>
          </a:custGeom>
          <a:ln w="38100">
            <a:solidFill>
              <a:srgbClr val="0070C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1" name="Freeform: Shape 10">
            <a:extLst>
              <a:ext uri="{FF2B5EF4-FFF2-40B4-BE49-F238E27FC236}">
                <a16:creationId xmlns:a16="http://schemas.microsoft.com/office/drawing/2014/main" id="{24537083-7EDF-6820-4D73-F26C2963CE60}"/>
              </a:ext>
            </a:extLst>
          </p:cNvPr>
          <p:cNvSpPr/>
          <p:nvPr/>
        </p:nvSpPr>
        <p:spPr bwMode="auto">
          <a:xfrm>
            <a:off x="326905" y="3688909"/>
            <a:ext cx="1371600" cy="1308193"/>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2" name="Freeform: Shape 11">
            <a:extLst>
              <a:ext uri="{FF2B5EF4-FFF2-40B4-BE49-F238E27FC236}">
                <a16:creationId xmlns:a16="http://schemas.microsoft.com/office/drawing/2014/main" id="{8EBB44E8-2FB1-22D4-909E-8F6E388DA1F8}"/>
              </a:ext>
            </a:extLst>
          </p:cNvPr>
          <p:cNvSpPr/>
          <p:nvPr/>
        </p:nvSpPr>
        <p:spPr bwMode="auto">
          <a:xfrm>
            <a:off x="1569954" y="2456951"/>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3" name="Freeform: Shape 12">
            <a:extLst>
              <a:ext uri="{FF2B5EF4-FFF2-40B4-BE49-F238E27FC236}">
                <a16:creationId xmlns:a16="http://schemas.microsoft.com/office/drawing/2014/main" id="{604F797F-EF89-F343-342A-F4A97789CE02}"/>
              </a:ext>
            </a:extLst>
          </p:cNvPr>
          <p:cNvSpPr/>
          <p:nvPr/>
        </p:nvSpPr>
        <p:spPr bwMode="auto">
          <a:xfrm>
            <a:off x="3728977" y="3878393"/>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4" name="TextBox 13">
            <a:extLst>
              <a:ext uri="{FF2B5EF4-FFF2-40B4-BE49-F238E27FC236}">
                <a16:creationId xmlns:a16="http://schemas.microsoft.com/office/drawing/2014/main" id="{D9A4AA4D-3A3F-F872-B6B1-CDCE206D30D9}"/>
              </a:ext>
            </a:extLst>
          </p:cNvPr>
          <p:cNvSpPr txBox="1"/>
          <p:nvPr/>
        </p:nvSpPr>
        <p:spPr>
          <a:xfrm>
            <a:off x="2192430" y="4621239"/>
            <a:ext cx="1516762" cy="461665"/>
          </a:xfrm>
          <a:prstGeom prst="rect">
            <a:avLst/>
          </a:prstGeom>
          <a:noFill/>
        </p:spPr>
        <p:txBody>
          <a:bodyPr wrap="none" rtlCol="0">
            <a:spAutoFit/>
          </a:bodyPr>
          <a:lstStyle/>
          <a:p>
            <a:r>
              <a:rPr lang="en-US" dirty="0"/>
              <a:t>Population</a:t>
            </a:r>
          </a:p>
        </p:txBody>
      </p:sp>
      <p:cxnSp>
        <p:nvCxnSpPr>
          <p:cNvPr id="15" name="Straight Connector 14">
            <a:extLst>
              <a:ext uri="{FF2B5EF4-FFF2-40B4-BE49-F238E27FC236}">
                <a16:creationId xmlns:a16="http://schemas.microsoft.com/office/drawing/2014/main" id="{CD566067-FE37-A4DC-C5EA-B39750BAB2AB}"/>
              </a:ext>
            </a:extLst>
          </p:cNvPr>
          <p:cNvCxnSpPr>
            <a:cxnSpLocks/>
          </p:cNvCxnSpPr>
          <p:nvPr/>
        </p:nvCxnSpPr>
        <p:spPr bwMode="auto">
          <a:xfrm flipH="1">
            <a:off x="2941554" y="2190929"/>
            <a:ext cx="30246" cy="3371671"/>
          </a:xfrm>
          <a:prstGeom prst="line">
            <a:avLst/>
          </a:prstGeom>
          <a:noFill/>
          <a:ln w="19050" cap="flat" cmpd="sng" algn="ctr">
            <a:solidFill>
              <a:schemeClr val="tx1"/>
            </a:solidFill>
            <a:prstDash val="sysDash"/>
            <a:round/>
            <a:headEnd type="none" w="med" len="med"/>
            <a:tailEnd type="none" w="med" len="med"/>
          </a:ln>
          <a:effectLst/>
        </p:spPr>
      </p:cxnSp>
      <p:cxnSp>
        <p:nvCxnSpPr>
          <p:cNvPr id="16" name="Straight Arrow Connector 15">
            <a:extLst>
              <a:ext uri="{FF2B5EF4-FFF2-40B4-BE49-F238E27FC236}">
                <a16:creationId xmlns:a16="http://schemas.microsoft.com/office/drawing/2014/main" id="{51281A12-6EBE-4C9F-EEC8-F395A68A9F93}"/>
              </a:ext>
            </a:extLst>
          </p:cNvPr>
          <p:cNvCxnSpPr/>
          <p:nvPr/>
        </p:nvCxnSpPr>
        <p:spPr bwMode="auto">
          <a:xfrm>
            <a:off x="1819108" y="2920009"/>
            <a:ext cx="838200" cy="0"/>
          </a:xfrm>
          <a:prstGeom prst="straightConnector1">
            <a:avLst/>
          </a:prstGeom>
          <a:noFill/>
          <a:ln w="9525" cap="flat" cmpd="sng" algn="ctr">
            <a:solidFill>
              <a:schemeClr val="tx1"/>
            </a:solidFill>
            <a:prstDash val="solid"/>
            <a:round/>
            <a:headEnd type="triangle"/>
            <a:tailEnd type="triangle"/>
          </a:ln>
          <a:effectLst/>
        </p:spPr>
      </p:cxnSp>
      <p:cxnSp>
        <p:nvCxnSpPr>
          <p:cNvPr id="17" name="Straight Arrow Connector 16">
            <a:extLst>
              <a:ext uri="{FF2B5EF4-FFF2-40B4-BE49-F238E27FC236}">
                <a16:creationId xmlns:a16="http://schemas.microsoft.com/office/drawing/2014/main" id="{8C2AEB2F-33AE-8883-8F05-B50F0AD45A03}"/>
              </a:ext>
            </a:extLst>
          </p:cNvPr>
          <p:cNvCxnSpPr>
            <a:cxnSpLocks/>
          </p:cNvCxnSpPr>
          <p:nvPr/>
        </p:nvCxnSpPr>
        <p:spPr bwMode="auto">
          <a:xfrm>
            <a:off x="443240" y="4522442"/>
            <a:ext cx="1050514" cy="0"/>
          </a:xfrm>
          <a:prstGeom prst="straightConnector1">
            <a:avLst/>
          </a:prstGeom>
          <a:noFill/>
          <a:ln w="9525" cap="flat" cmpd="sng" algn="ctr">
            <a:solidFill>
              <a:schemeClr val="tx1"/>
            </a:solidFill>
            <a:prstDash val="solid"/>
            <a:round/>
            <a:headEnd type="triangle"/>
            <a:tailEnd type="triangle"/>
          </a:ln>
          <a:effectLst/>
        </p:spPr>
      </p:cxnSp>
      <p:cxnSp>
        <p:nvCxnSpPr>
          <p:cNvPr id="18" name="Straight Arrow Connector 17">
            <a:extLst>
              <a:ext uri="{FF2B5EF4-FFF2-40B4-BE49-F238E27FC236}">
                <a16:creationId xmlns:a16="http://schemas.microsoft.com/office/drawing/2014/main" id="{2B2A85F0-D94B-9693-85FC-D124E4CAAA68}"/>
              </a:ext>
            </a:extLst>
          </p:cNvPr>
          <p:cNvCxnSpPr>
            <a:cxnSpLocks/>
          </p:cNvCxnSpPr>
          <p:nvPr/>
        </p:nvCxnSpPr>
        <p:spPr bwMode="auto">
          <a:xfrm>
            <a:off x="3932154" y="4446242"/>
            <a:ext cx="914400" cy="0"/>
          </a:xfrm>
          <a:prstGeom prst="straightConnector1">
            <a:avLst/>
          </a:prstGeom>
          <a:noFill/>
          <a:ln w="9525" cap="flat" cmpd="sng" algn="ctr">
            <a:solidFill>
              <a:schemeClr val="tx1"/>
            </a:solidFill>
            <a:prstDash val="solid"/>
            <a:round/>
            <a:headEnd type="triangle"/>
            <a:tailEnd type="triangle"/>
          </a:ln>
          <a:effectLst/>
        </p:spPr>
      </p:cxnSp>
      <p:sp>
        <p:nvSpPr>
          <p:cNvPr id="19" name="TextBox 18">
            <a:extLst>
              <a:ext uri="{FF2B5EF4-FFF2-40B4-BE49-F238E27FC236}">
                <a16:creationId xmlns:a16="http://schemas.microsoft.com/office/drawing/2014/main" id="{D101711D-1D8D-80D5-9EA8-22CA2EDDE1C0}"/>
              </a:ext>
            </a:extLst>
          </p:cNvPr>
          <p:cNvSpPr txBox="1"/>
          <p:nvPr/>
        </p:nvSpPr>
        <p:spPr>
          <a:xfrm>
            <a:off x="3305073" y="1968525"/>
            <a:ext cx="4018437" cy="830997"/>
          </a:xfrm>
          <a:prstGeom prst="rect">
            <a:avLst/>
          </a:prstGeom>
          <a:noFill/>
        </p:spPr>
        <p:txBody>
          <a:bodyPr wrap="square" rtlCol="0">
            <a:spAutoFit/>
          </a:bodyPr>
          <a:lstStyle/>
          <a:p>
            <a:r>
              <a:rPr lang="en-US" dirty="0"/>
              <a:t>Mean of Squares Within groups (MSW)</a:t>
            </a:r>
          </a:p>
        </p:txBody>
      </p:sp>
      <p:sp>
        <p:nvSpPr>
          <p:cNvPr id="20" name="TextBox 19">
            <a:extLst>
              <a:ext uri="{FF2B5EF4-FFF2-40B4-BE49-F238E27FC236}">
                <a16:creationId xmlns:a16="http://schemas.microsoft.com/office/drawing/2014/main" id="{2ACB16CD-8B3C-D5F8-2788-2BA959774AC6}"/>
              </a:ext>
            </a:extLst>
          </p:cNvPr>
          <p:cNvSpPr txBox="1"/>
          <p:nvPr/>
        </p:nvSpPr>
        <p:spPr>
          <a:xfrm>
            <a:off x="731754" y="4446242"/>
            <a:ext cx="389850" cy="461665"/>
          </a:xfrm>
          <a:prstGeom prst="rect">
            <a:avLst/>
          </a:prstGeom>
          <a:noFill/>
        </p:spPr>
        <p:txBody>
          <a:bodyPr wrap="none" rtlCol="0">
            <a:spAutoFit/>
          </a:bodyPr>
          <a:lstStyle/>
          <a:p>
            <a:r>
              <a:rPr lang="en-US" dirty="0"/>
              <a:t>B</a:t>
            </a:r>
          </a:p>
        </p:txBody>
      </p:sp>
      <p:sp>
        <p:nvSpPr>
          <p:cNvPr id="21" name="TextBox 20">
            <a:extLst>
              <a:ext uri="{FF2B5EF4-FFF2-40B4-BE49-F238E27FC236}">
                <a16:creationId xmlns:a16="http://schemas.microsoft.com/office/drawing/2014/main" id="{92E82978-B05C-A214-F73C-C3ADC56CA28B}"/>
              </a:ext>
            </a:extLst>
          </p:cNvPr>
          <p:cNvSpPr txBox="1"/>
          <p:nvPr/>
        </p:nvSpPr>
        <p:spPr>
          <a:xfrm>
            <a:off x="2051980" y="2920009"/>
            <a:ext cx="407484" cy="461665"/>
          </a:xfrm>
          <a:prstGeom prst="rect">
            <a:avLst/>
          </a:prstGeom>
          <a:noFill/>
        </p:spPr>
        <p:txBody>
          <a:bodyPr wrap="none" rtlCol="0">
            <a:spAutoFit/>
          </a:bodyPr>
          <a:lstStyle/>
          <a:p>
            <a:r>
              <a:rPr lang="en-US" dirty="0"/>
              <a:t>A</a:t>
            </a:r>
          </a:p>
        </p:txBody>
      </p:sp>
      <p:sp>
        <p:nvSpPr>
          <p:cNvPr id="22" name="TextBox 21">
            <a:extLst>
              <a:ext uri="{FF2B5EF4-FFF2-40B4-BE49-F238E27FC236}">
                <a16:creationId xmlns:a16="http://schemas.microsoft.com/office/drawing/2014/main" id="{0A3CECA8-E113-5410-CEEC-D53969228BEC}"/>
              </a:ext>
            </a:extLst>
          </p:cNvPr>
          <p:cNvSpPr txBox="1"/>
          <p:nvPr/>
        </p:nvSpPr>
        <p:spPr>
          <a:xfrm>
            <a:off x="4289305" y="4509855"/>
            <a:ext cx="389850" cy="461665"/>
          </a:xfrm>
          <a:prstGeom prst="rect">
            <a:avLst/>
          </a:prstGeom>
          <a:noFill/>
        </p:spPr>
        <p:txBody>
          <a:bodyPr wrap="none" rtlCol="0">
            <a:spAutoFit/>
          </a:bodyPr>
          <a:lstStyle/>
          <a:p>
            <a:r>
              <a:rPr lang="en-US" dirty="0"/>
              <a:t>C</a:t>
            </a:r>
          </a:p>
        </p:txBody>
      </p:sp>
      <p:cxnSp>
        <p:nvCxnSpPr>
          <p:cNvPr id="23" name="Straight Connector 22">
            <a:extLst>
              <a:ext uri="{FF2B5EF4-FFF2-40B4-BE49-F238E27FC236}">
                <a16:creationId xmlns:a16="http://schemas.microsoft.com/office/drawing/2014/main" id="{A7522783-AEA6-01A6-6636-058A546CB683}"/>
              </a:ext>
            </a:extLst>
          </p:cNvPr>
          <p:cNvCxnSpPr>
            <a:cxnSpLocks/>
          </p:cNvCxnSpPr>
          <p:nvPr/>
        </p:nvCxnSpPr>
        <p:spPr bwMode="auto">
          <a:xfrm>
            <a:off x="2238208" y="2064934"/>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24" name="Straight Connector 23">
            <a:extLst>
              <a:ext uri="{FF2B5EF4-FFF2-40B4-BE49-F238E27FC236}">
                <a16:creationId xmlns:a16="http://schemas.microsoft.com/office/drawing/2014/main" id="{766D7DD6-CE1D-F6C7-ACC3-60D9D0A98AB6}"/>
              </a:ext>
            </a:extLst>
          </p:cNvPr>
          <p:cNvCxnSpPr>
            <a:cxnSpLocks/>
          </p:cNvCxnSpPr>
          <p:nvPr/>
        </p:nvCxnSpPr>
        <p:spPr bwMode="auto">
          <a:xfrm>
            <a:off x="968497" y="3461250"/>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25" name="Straight Connector 24">
            <a:extLst>
              <a:ext uri="{FF2B5EF4-FFF2-40B4-BE49-F238E27FC236}">
                <a16:creationId xmlns:a16="http://schemas.microsoft.com/office/drawing/2014/main" id="{8A35844D-416C-76A8-1382-493F20536DFF}"/>
              </a:ext>
            </a:extLst>
          </p:cNvPr>
          <p:cNvCxnSpPr>
            <a:cxnSpLocks/>
          </p:cNvCxnSpPr>
          <p:nvPr/>
        </p:nvCxnSpPr>
        <p:spPr bwMode="auto">
          <a:xfrm>
            <a:off x="4414745" y="3369025"/>
            <a:ext cx="32" cy="1570889"/>
          </a:xfrm>
          <a:prstGeom prst="line">
            <a:avLst/>
          </a:prstGeom>
          <a:noFill/>
          <a:ln w="19050" cap="flat" cmpd="sng" algn="ctr">
            <a:solidFill>
              <a:schemeClr val="tx1"/>
            </a:solidFill>
            <a:prstDash val="sysDash"/>
            <a:round/>
            <a:headEnd type="none" w="med" len="med"/>
            <a:tailEnd type="none" w="med" len="med"/>
          </a:ln>
          <a:effectLst/>
        </p:spPr>
      </p:cxnSp>
      <p:sp>
        <p:nvSpPr>
          <p:cNvPr id="26" name="Freeform: Shape 25">
            <a:extLst>
              <a:ext uri="{FF2B5EF4-FFF2-40B4-BE49-F238E27FC236}">
                <a16:creationId xmlns:a16="http://schemas.microsoft.com/office/drawing/2014/main" id="{FDAFDFE2-5EF6-B769-444D-22EE1F4FDE1F}"/>
              </a:ext>
            </a:extLst>
          </p:cNvPr>
          <p:cNvSpPr/>
          <p:nvPr/>
        </p:nvSpPr>
        <p:spPr bwMode="auto">
          <a:xfrm>
            <a:off x="6679502" y="2541242"/>
            <a:ext cx="4160171" cy="2897023"/>
          </a:xfrm>
          <a:custGeom>
            <a:avLst/>
            <a:gdLst>
              <a:gd name="connsiteX0" fmla="*/ 0 w 4160171"/>
              <a:gd name="connsiteY0" fmla="*/ 2764400 h 2897023"/>
              <a:gd name="connsiteX1" fmla="*/ 2045185 w 4160171"/>
              <a:gd name="connsiteY1" fmla="*/ 259 h 2897023"/>
              <a:gd name="connsiteX2" fmla="*/ 4160171 w 4160171"/>
              <a:gd name="connsiteY2" fmla="*/ 2897023 h 2897023"/>
            </a:gdLst>
            <a:ahLst/>
            <a:cxnLst>
              <a:cxn ang="0">
                <a:pos x="connsiteX0" y="connsiteY0"/>
              </a:cxn>
              <a:cxn ang="0">
                <a:pos x="connsiteX1" y="connsiteY1"/>
              </a:cxn>
              <a:cxn ang="0">
                <a:pos x="connsiteX2" y="connsiteY2"/>
              </a:cxn>
            </a:cxnLst>
            <a:rect l="l" t="t" r="r" b="b"/>
            <a:pathLst>
              <a:path w="4160171" h="2897023">
                <a:moveTo>
                  <a:pt x="0" y="2764400"/>
                </a:moveTo>
                <a:cubicBezTo>
                  <a:pt x="675911" y="1371277"/>
                  <a:pt x="1351823" y="-21845"/>
                  <a:pt x="2045185" y="259"/>
                </a:cubicBezTo>
                <a:cubicBezTo>
                  <a:pt x="2738547" y="22363"/>
                  <a:pt x="3779753" y="2401432"/>
                  <a:pt x="4160171" y="2897023"/>
                </a:cubicBezTo>
              </a:path>
            </a:pathLst>
          </a:custGeom>
          <a:ln w="38100">
            <a:solidFill>
              <a:srgbClr val="0070C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7" name="Freeform: Shape 26">
            <a:extLst>
              <a:ext uri="{FF2B5EF4-FFF2-40B4-BE49-F238E27FC236}">
                <a16:creationId xmlns:a16="http://schemas.microsoft.com/office/drawing/2014/main" id="{11BBC519-6719-5422-D453-38768D26346A}"/>
              </a:ext>
            </a:extLst>
          </p:cNvPr>
          <p:cNvSpPr/>
          <p:nvPr/>
        </p:nvSpPr>
        <p:spPr bwMode="auto">
          <a:xfrm>
            <a:off x="6101313" y="3800269"/>
            <a:ext cx="1371600" cy="1308193"/>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8" name="Freeform: Shape 27">
            <a:extLst>
              <a:ext uri="{FF2B5EF4-FFF2-40B4-BE49-F238E27FC236}">
                <a16:creationId xmlns:a16="http://schemas.microsoft.com/office/drawing/2014/main" id="{9595D637-1DA1-E81B-A9E2-5902008E4398}"/>
              </a:ext>
            </a:extLst>
          </p:cNvPr>
          <p:cNvSpPr/>
          <p:nvPr/>
        </p:nvSpPr>
        <p:spPr bwMode="auto">
          <a:xfrm>
            <a:off x="7344362" y="2568311"/>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9" name="Freeform: Shape 28">
            <a:extLst>
              <a:ext uri="{FF2B5EF4-FFF2-40B4-BE49-F238E27FC236}">
                <a16:creationId xmlns:a16="http://schemas.microsoft.com/office/drawing/2014/main" id="{A134DD99-DDD4-35BE-D8EB-2F412C62F514}"/>
              </a:ext>
            </a:extLst>
          </p:cNvPr>
          <p:cNvSpPr/>
          <p:nvPr/>
        </p:nvSpPr>
        <p:spPr bwMode="auto">
          <a:xfrm>
            <a:off x="9503385" y="3989753"/>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30" name="TextBox 29">
            <a:extLst>
              <a:ext uri="{FF2B5EF4-FFF2-40B4-BE49-F238E27FC236}">
                <a16:creationId xmlns:a16="http://schemas.microsoft.com/office/drawing/2014/main" id="{04D09841-FCB6-8610-83C9-4CD2EB98B5A4}"/>
              </a:ext>
            </a:extLst>
          </p:cNvPr>
          <p:cNvSpPr txBox="1"/>
          <p:nvPr/>
        </p:nvSpPr>
        <p:spPr>
          <a:xfrm>
            <a:off x="8031874" y="4765487"/>
            <a:ext cx="1516762" cy="461665"/>
          </a:xfrm>
          <a:prstGeom prst="rect">
            <a:avLst/>
          </a:prstGeom>
          <a:noFill/>
        </p:spPr>
        <p:txBody>
          <a:bodyPr wrap="none" rtlCol="0">
            <a:spAutoFit/>
          </a:bodyPr>
          <a:lstStyle/>
          <a:p>
            <a:r>
              <a:rPr lang="en-US" dirty="0"/>
              <a:t>Population</a:t>
            </a:r>
          </a:p>
        </p:txBody>
      </p:sp>
      <p:cxnSp>
        <p:nvCxnSpPr>
          <p:cNvPr id="31" name="Straight Connector 30">
            <a:extLst>
              <a:ext uri="{FF2B5EF4-FFF2-40B4-BE49-F238E27FC236}">
                <a16:creationId xmlns:a16="http://schemas.microsoft.com/office/drawing/2014/main" id="{3E3DC206-45BD-F747-DEF1-BEAF14BE4A92}"/>
              </a:ext>
            </a:extLst>
          </p:cNvPr>
          <p:cNvCxnSpPr>
            <a:cxnSpLocks/>
          </p:cNvCxnSpPr>
          <p:nvPr/>
        </p:nvCxnSpPr>
        <p:spPr bwMode="auto">
          <a:xfrm>
            <a:off x="8746208" y="2302289"/>
            <a:ext cx="13379" cy="3260311"/>
          </a:xfrm>
          <a:prstGeom prst="line">
            <a:avLst/>
          </a:prstGeom>
          <a:noFill/>
          <a:ln w="19050" cap="flat" cmpd="sng" algn="ctr">
            <a:solidFill>
              <a:schemeClr val="tx1"/>
            </a:solidFill>
            <a:prstDash val="sysDash"/>
            <a:round/>
            <a:headEnd type="none" w="med" len="med"/>
            <a:tailEnd type="none" w="med" len="med"/>
          </a:ln>
          <a:effectLst/>
        </p:spPr>
      </p:cxnSp>
      <p:cxnSp>
        <p:nvCxnSpPr>
          <p:cNvPr id="32" name="Straight Arrow Connector 31">
            <a:extLst>
              <a:ext uri="{FF2B5EF4-FFF2-40B4-BE49-F238E27FC236}">
                <a16:creationId xmlns:a16="http://schemas.microsoft.com/office/drawing/2014/main" id="{76BABAD6-2FE2-A0C4-110E-A16C75E6CAB6}"/>
              </a:ext>
            </a:extLst>
          </p:cNvPr>
          <p:cNvCxnSpPr>
            <a:cxnSpLocks/>
          </p:cNvCxnSpPr>
          <p:nvPr/>
        </p:nvCxnSpPr>
        <p:spPr bwMode="auto">
          <a:xfrm>
            <a:off x="8030130" y="2837100"/>
            <a:ext cx="667639" cy="0"/>
          </a:xfrm>
          <a:prstGeom prst="straightConnector1">
            <a:avLst/>
          </a:prstGeom>
          <a:noFill/>
          <a:ln w="9525" cap="flat" cmpd="sng" algn="ctr">
            <a:solidFill>
              <a:schemeClr val="tx1"/>
            </a:solidFill>
            <a:prstDash val="solid"/>
            <a:round/>
            <a:headEnd type="triangle"/>
            <a:tailEnd type="triangle"/>
          </a:ln>
          <a:effectLst/>
        </p:spPr>
      </p:cxnSp>
      <p:cxnSp>
        <p:nvCxnSpPr>
          <p:cNvPr id="33" name="Straight Arrow Connector 32">
            <a:extLst>
              <a:ext uri="{FF2B5EF4-FFF2-40B4-BE49-F238E27FC236}">
                <a16:creationId xmlns:a16="http://schemas.microsoft.com/office/drawing/2014/main" id="{36BF15BC-2085-79A0-AA2C-8F32E26590E3}"/>
              </a:ext>
            </a:extLst>
          </p:cNvPr>
          <p:cNvCxnSpPr>
            <a:cxnSpLocks/>
          </p:cNvCxnSpPr>
          <p:nvPr/>
        </p:nvCxnSpPr>
        <p:spPr bwMode="auto">
          <a:xfrm>
            <a:off x="6775874" y="4621215"/>
            <a:ext cx="1970334" cy="0"/>
          </a:xfrm>
          <a:prstGeom prst="straightConnector1">
            <a:avLst/>
          </a:prstGeom>
          <a:noFill/>
          <a:ln w="9525" cap="flat" cmpd="sng" algn="ctr">
            <a:solidFill>
              <a:schemeClr val="tx1"/>
            </a:solidFill>
            <a:prstDash val="solid"/>
            <a:round/>
            <a:headEnd type="triangle"/>
            <a:tailEnd type="triangle"/>
          </a:ln>
          <a:effectLst/>
        </p:spPr>
      </p:cxnSp>
      <p:cxnSp>
        <p:nvCxnSpPr>
          <p:cNvPr id="34" name="Straight Arrow Connector 33">
            <a:extLst>
              <a:ext uri="{FF2B5EF4-FFF2-40B4-BE49-F238E27FC236}">
                <a16:creationId xmlns:a16="http://schemas.microsoft.com/office/drawing/2014/main" id="{7783C144-4CCA-D6E6-D9F1-A6F7849C8956}"/>
              </a:ext>
            </a:extLst>
          </p:cNvPr>
          <p:cNvCxnSpPr>
            <a:cxnSpLocks/>
          </p:cNvCxnSpPr>
          <p:nvPr/>
        </p:nvCxnSpPr>
        <p:spPr bwMode="auto">
          <a:xfrm>
            <a:off x="8715962" y="4493036"/>
            <a:ext cx="1473191" cy="0"/>
          </a:xfrm>
          <a:prstGeom prst="straightConnector1">
            <a:avLst/>
          </a:prstGeom>
          <a:noFill/>
          <a:ln w="9525" cap="flat" cmpd="sng" algn="ctr">
            <a:solidFill>
              <a:schemeClr val="tx1"/>
            </a:solidFill>
            <a:prstDash val="solid"/>
            <a:round/>
            <a:headEnd type="triangle"/>
            <a:tailEnd type="triangle"/>
          </a:ln>
          <a:effectLst/>
        </p:spPr>
      </p:cxnSp>
      <p:sp>
        <p:nvSpPr>
          <p:cNvPr id="35" name="TextBox 34">
            <a:extLst>
              <a:ext uri="{FF2B5EF4-FFF2-40B4-BE49-F238E27FC236}">
                <a16:creationId xmlns:a16="http://schemas.microsoft.com/office/drawing/2014/main" id="{89BE2298-305C-D64E-A20E-DF739556A5A1}"/>
              </a:ext>
            </a:extLst>
          </p:cNvPr>
          <p:cNvSpPr txBox="1"/>
          <p:nvPr/>
        </p:nvSpPr>
        <p:spPr>
          <a:xfrm>
            <a:off x="6506162" y="4557602"/>
            <a:ext cx="389850" cy="461665"/>
          </a:xfrm>
          <a:prstGeom prst="rect">
            <a:avLst/>
          </a:prstGeom>
          <a:noFill/>
        </p:spPr>
        <p:txBody>
          <a:bodyPr wrap="none" rtlCol="0">
            <a:spAutoFit/>
          </a:bodyPr>
          <a:lstStyle/>
          <a:p>
            <a:r>
              <a:rPr lang="en-US" dirty="0"/>
              <a:t>B</a:t>
            </a:r>
          </a:p>
        </p:txBody>
      </p:sp>
      <p:sp>
        <p:nvSpPr>
          <p:cNvPr id="36" name="TextBox 35">
            <a:extLst>
              <a:ext uri="{FF2B5EF4-FFF2-40B4-BE49-F238E27FC236}">
                <a16:creationId xmlns:a16="http://schemas.microsoft.com/office/drawing/2014/main" id="{1AAA768B-4469-D6E1-8711-1274FD984040}"/>
              </a:ext>
            </a:extLst>
          </p:cNvPr>
          <p:cNvSpPr txBox="1"/>
          <p:nvPr/>
        </p:nvSpPr>
        <p:spPr>
          <a:xfrm>
            <a:off x="7826388" y="3031369"/>
            <a:ext cx="407484" cy="461665"/>
          </a:xfrm>
          <a:prstGeom prst="rect">
            <a:avLst/>
          </a:prstGeom>
          <a:noFill/>
        </p:spPr>
        <p:txBody>
          <a:bodyPr wrap="none" rtlCol="0">
            <a:spAutoFit/>
          </a:bodyPr>
          <a:lstStyle/>
          <a:p>
            <a:r>
              <a:rPr lang="en-US" dirty="0"/>
              <a:t>A</a:t>
            </a:r>
          </a:p>
        </p:txBody>
      </p:sp>
      <p:sp>
        <p:nvSpPr>
          <p:cNvPr id="37" name="TextBox 36">
            <a:extLst>
              <a:ext uri="{FF2B5EF4-FFF2-40B4-BE49-F238E27FC236}">
                <a16:creationId xmlns:a16="http://schemas.microsoft.com/office/drawing/2014/main" id="{B97F1B3E-DC1A-E560-8DBC-432C28CB0150}"/>
              </a:ext>
            </a:extLst>
          </p:cNvPr>
          <p:cNvSpPr txBox="1"/>
          <p:nvPr/>
        </p:nvSpPr>
        <p:spPr>
          <a:xfrm>
            <a:off x="10063713" y="4621215"/>
            <a:ext cx="389850" cy="461665"/>
          </a:xfrm>
          <a:prstGeom prst="rect">
            <a:avLst/>
          </a:prstGeom>
          <a:noFill/>
        </p:spPr>
        <p:txBody>
          <a:bodyPr wrap="none" rtlCol="0">
            <a:spAutoFit/>
          </a:bodyPr>
          <a:lstStyle/>
          <a:p>
            <a:r>
              <a:rPr lang="en-US" dirty="0"/>
              <a:t>C</a:t>
            </a:r>
          </a:p>
        </p:txBody>
      </p:sp>
      <p:cxnSp>
        <p:nvCxnSpPr>
          <p:cNvPr id="38" name="Straight Connector 37">
            <a:extLst>
              <a:ext uri="{FF2B5EF4-FFF2-40B4-BE49-F238E27FC236}">
                <a16:creationId xmlns:a16="http://schemas.microsoft.com/office/drawing/2014/main" id="{C906CA1E-F70C-1789-AB3D-3A38C5DDA164}"/>
              </a:ext>
            </a:extLst>
          </p:cNvPr>
          <p:cNvCxnSpPr>
            <a:cxnSpLocks/>
          </p:cNvCxnSpPr>
          <p:nvPr/>
        </p:nvCxnSpPr>
        <p:spPr bwMode="auto">
          <a:xfrm>
            <a:off x="8012616" y="2176294"/>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39" name="Straight Connector 38">
            <a:extLst>
              <a:ext uri="{FF2B5EF4-FFF2-40B4-BE49-F238E27FC236}">
                <a16:creationId xmlns:a16="http://schemas.microsoft.com/office/drawing/2014/main" id="{5C2A8860-8234-56C6-CF87-11327A8CA56F}"/>
              </a:ext>
            </a:extLst>
          </p:cNvPr>
          <p:cNvCxnSpPr>
            <a:cxnSpLocks/>
          </p:cNvCxnSpPr>
          <p:nvPr/>
        </p:nvCxnSpPr>
        <p:spPr bwMode="auto">
          <a:xfrm>
            <a:off x="6742905" y="3572610"/>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40" name="Straight Connector 39">
            <a:extLst>
              <a:ext uri="{FF2B5EF4-FFF2-40B4-BE49-F238E27FC236}">
                <a16:creationId xmlns:a16="http://schemas.microsoft.com/office/drawing/2014/main" id="{CDC1BEB0-F519-5A15-43FA-921CAEF544C7}"/>
              </a:ext>
            </a:extLst>
          </p:cNvPr>
          <p:cNvCxnSpPr>
            <a:cxnSpLocks/>
          </p:cNvCxnSpPr>
          <p:nvPr/>
        </p:nvCxnSpPr>
        <p:spPr bwMode="auto">
          <a:xfrm>
            <a:off x="10189153" y="3480385"/>
            <a:ext cx="32" cy="1570889"/>
          </a:xfrm>
          <a:prstGeom prst="line">
            <a:avLst/>
          </a:prstGeom>
          <a:noFill/>
          <a:ln w="19050" cap="flat" cmpd="sng" algn="ctr">
            <a:solidFill>
              <a:schemeClr val="tx1"/>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C34000E-3FE7-EDD7-A8E5-CA486D459AA9}"/>
                  </a:ext>
                </a:extLst>
              </p:cNvPr>
              <p:cNvSpPr txBox="1"/>
              <p:nvPr/>
            </p:nvSpPr>
            <p:spPr>
              <a:xfrm>
                <a:off x="1237960" y="5668269"/>
                <a:ext cx="1959387" cy="7863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𝐹</m:t>
                      </m:r>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𝑀𝑆𝐵</m:t>
                          </m:r>
                        </m:num>
                        <m:den>
                          <m:r>
                            <a:rPr lang="en-US" i="1" dirty="0">
                              <a:latin typeface="Cambria Math" panose="02040503050406030204" pitchFamily="18" charset="0"/>
                            </a:rPr>
                            <m:t>𝑀𝑆𝑊</m:t>
                          </m:r>
                        </m:den>
                      </m:f>
                    </m:oMath>
                  </m:oMathPara>
                </a14:m>
                <a:endParaRPr lang="en-US" dirty="0"/>
              </a:p>
            </p:txBody>
          </p:sp>
        </mc:Choice>
        <mc:Fallback xmlns="">
          <p:sp>
            <p:nvSpPr>
              <p:cNvPr id="41" name="TextBox 40">
                <a:extLst>
                  <a:ext uri="{FF2B5EF4-FFF2-40B4-BE49-F238E27FC236}">
                    <a16:creationId xmlns:a16="http://schemas.microsoft.com/office/drawing/2014/main" id="{1C34000E-3FE7-EDD7-A8E5-CA486D459AA9}"/>
                  </a:ext>
                </a:extLst>
              </p:cNvPr>
              <p:cNvSpPr txBox="1">
                <a:spLocks noRot="1" noChangeAspect="1" noMove="1" noResize="1" noEditPoints="1" noAdjustHandles="1" noChangeArrowheads="1" noChangeShapeType="1" noTextEdit="1"/>
              </p:cNvSpPr>
              <p:nvPr/>
            </p:nvSpPr>
            <p:spPr>
              <a:xfrm>
                <a:off x="1237960" y="5668269"/>
                <a:ext cx="1959387" cy="786369"/>
              </a:xfrm>
              <a:prstGeom prst="rect">
                <a:avLst/>
              </a:prstGeom>
              <a:blipFill>
                <a:blip r:embed="rId2"/>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2D568CBC-35FE-410C-F588-99BCEEA6C267}"/>
              </a:ext>
            </a:extLst>
          </p:cNvPr>
          <p:cNvSpPr txBox="1"/>
          <p:nvPr/>
        </p:nvSpPr>
        <p:spPr>
          <a:xfrm>
            <a:off x="5586002" y="5698977"/>
            <a:ext cx="6817305" cy="830997"/>
          </a:xfrm>
          <a:prstGeom prst="rect">
            <a:avLst/>
          </a:prstGeom>
          <a:noFill/>
        </p:spPr>
        <p:txBody>
          <a:bodyPr wrap="square" rtlCol="0">
            <a:spAutoFit/>
          </a:bodyPr>
          <a:lstStyle/>
          <a:p>
            <a:r>
              <a:rPr lang="en-US" dirty="0"/>
              <a:t>Using the F-factor, we can determine the confidence p-value to either accept or reject the null hypothesis.</a:t>
            </a:r>
          </a:p>
        </p:txBody>
      </p:sp>
      <p:sp>
        <p:nvSpPr>
          <p:cNvPr id="43" name="Arrow: Right 42">
            <a:extLst>
              <a:ext uri="{FF2B5EF4-FFF2-40B4-BE49-F238E27FC236}">
                <a16:creationId xmlns:a16="http://schemas.microsoft.com/office/drawing/2014/main" id="{F7395403-7369-5D67-E6E3-6C50A3816C62}"/>
              </a:ext>
            </a:extLst>
          </p:cNvPr>
          <p:cNvSpPr/>
          <p:nvPr/>
        </p:nvSpPr>
        <p:spPr bwMode="auto">
          <a:xfrm>
            <a:off x="3959026" y="5946625"/>
            <a:ext cx="1371600" cy="319423"/>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44" name="TextBox 43">
            <a:extLst>
              <a:ext uri="{FF2B5EF4-FFF2-40B4-BE49-F238E27FC236}">
                <a16:creationId xmlns:a16="http://schemas.microsoft.com/office/drawing/2014/main" id="{184460C8-FF08-5312-C7C3-F87DDAB3FCE9}"/>
              </a:ext>
            </a:extLst>
          </p:cNvPr>
          <p:cNvSpPr txBox="1"/>
          <p:nvPr/>
        </p:nvSpPr>
        <p:spPr>
          <a:xfrm>
            <a:off x="266700" y="1663420"/>
            <a:ext cx="6097162" cy="461665"/>
          </a:xfrm>
          <a:prstGeom prst="rect">
            <a:avLst/>
          </a:prstGeom>
          <a:noFill/>
        </p:spPr>
        <p:txBody>
          <a:bodyPr wrap="square">
            <a:spAutoFit/>
          </a:bodyPr>
          <a:lstStyle/>
          <a:p>
            <a:r>
              <a:rPr lang="en-US" dirty="0"/>
              <a:t>Explanations:</a:t>
            </a:r>
          </a:p>
        </p:txBody>
      </p:sp>
      <p:sp>
        <p:nvSpPr>
          <p:cNvPr id="45" name="TextBox 44">
            <a:extLst>
              <a:ext uri="{FF2B5EF4-FFF2-40B4-BE49-F238E27FC236}">
                <a16:creationId xmlns:a16="http://schemas.microsoft.com/office/drawing/2014/main" id="{94B2A6E5-2BC5-763D-12C1-75FCC86872FC}"/>
              </a:ext>
            </a:extLst>
          </p:cNvPr>
          <p:cNvSpPr txBox="1"/>
          <p:nvPr/>
        </p:nvSpPr>
        <p:spPr>
          <a:xfrm>
            <a:off x="9029088" y="1966484"/>
            <a:ext cx="3323008" cy="830997"/>
          </a:xfrm>
          <a:prstGeom prst="rect">
            <a:avLst/>
          </a:prstGeom>
          <a:noFill/>
        </p:spPr>
        <p:txBody>
          <a:bodyPr wrap="square" rtlCol="0">
            <a:spAutoFit/>
          </a:bodyPr>
          <a:lstStyle/>
          <a:p>
            <a:r>
              <a:rPr lang="en-US" dirty="0"/>
              <a:t>Mean of Squares Between groups (MSB)</a:t>
            </a:r>
          </a:p>
        </p:txBody>
      </p:sp>
    </p:spTree>
    <p:extLst>
      <p:ext uri="{BB962C8B-B14F-4D97-AF65-F5344CB8AC3E}">
        <p14:creationId xmlns:p14="http://schemas.microsoft.com/office/powerpoint/2010/main" val="168956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8482A-8756-D942-06A0-3944C0AD6FBD}"/>
              </a:ext>
            </a:extLst>
          </p:cNvPr>
          <p:cNvSpPr>
            <a:spLocks noGrp="1"/>
          </p:cNvSpPr>
          <p:nvPr>
            <p:ph type="title"/>
          </p:nvPr>
        </p:nvSpPr>
        <p:spPr/>
        <p:txBody>
          <a:bodyPr/>
          <a:lstStyle/>
          <a:p>
            <a:r>
              <a:rPr lang="en-US" dirty="0"/>
              <a:t>ANOVA Results</a:t>
            </a:r>
          </a:p>
        </p:txBody>
      </p:sp>
      <p:sp>
        <p:nvSpPr>
          <p:cNvPr id="3" name="Content Placeholder 2">
            <a:extLst>
              <a:ext uri="{FF2B5EF4-FFF2-40B4-BE49-F238E27FC236}">
                <a16:creationId xmlns:a16="http://schemas.microsoft.com/office/drawing/2014/main" id="{21F460A9-DEB4-BD57-CA86-1E22671CAA8A}"/>
              </a:ext>
            </a:extLst>
          </p:cNvPr>
          <p:cNvSpPr>
            <a:spLocks noGrp="1"/>
          </p:cNvSpPr>
          <p:nvPr>
            <p:ph idx="1"/>
          </p:nvPr>
        </p:nvSpPr>
        <p:spPr/>
        <p:txBody>
          <a:bodyPr/>
          <a:lstStyle/>
          <a:p>
            <a:r>
              <a:rPr lang="en-US" dirty="0"/>
              <a:t>At 0 </a:t>
            </a:r>
            <a:r>
              <a:rPr lang="en-US" dirty="0" err="1"/>
              <a:t>hrs</a:t>
            </a:r>
            <a:r>
              <a:rPr lang="en-US" dirty="0"/>
              <a:t>, no differences were found between manufacturers and AECQ to non-AECQ</a:t>
            </a:r>
          </a:p>
          <a:p>
            <a:r>
              <a:rPr lang="en-US" dirty="0"/>
              <a:t>At 5200 </a:t>
            </a:r>
            <a:r>
              <a:rPr lang="en-US" dirty="0" err="1"/>
              <a:t>hrs</a:t>
            </a:r>
            <a:r>
              <a:rPr lang="en-US" dirty="0"/>
              <a:t> we found differences in DF and Insulation resistance.</a:t>
            </a:r>
          </a:p>
          <a:p>
            <a:r>
              <a:rPr lang="en-US" dirty="0"/>
              <a:t>Both of these differences we observed between manufacturers.</a:t>
            </a:r>
          </a:p>
          <a:p>
            <a:endParaRPr lang="en-US" dirty="0"/>
          </a:p>
        </p:txBody>
      </p:sp>
    </p:spTree>
    <p:extLst>
      <p:ext uri="{BB962C8B-B14F-4D97-AF65-F5344CB8AC3E}">
        <p14:creationId xmlns:p14="http://schemas.microsoft.com/office/powerpoint/2010/main" val="2175061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774</Words>
  <Application>Microsoft Office PowerPoint</Application>
  <PresentationFormat>Widescreen</PresentationFormat>
  <Paragraphs>73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Results</vt:lpstr>
      <vt:lpstr>One-Way ANOVA</vt:lpstr>
      <vt:lpstr>ANOVA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Bharadwaj Kulkarni</dc:creator>
  <cp:lastModifiedBy>Nikhil Bharadwaj Kulkarni</cp:lastModifiedBy>
  <cp:revision>2</cp:revision>
  <dcterms:created xsi:type="dcterms:W3CDTF">2025-12-16T16:06:47Z</dcterms:created>
  <dcterms:modified xsi:type="dcterms:W3CDTF">2025-12-16T19:31:27Z</dcterms:modified>
</cp:coreProperties>
</file>